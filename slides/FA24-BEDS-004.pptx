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2" d="100"/>
          <a:sy n="82" d="100"/>
        </p:scale>
        <p:origin x="82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Women</c:v>
                </c:pt>
              </c:strCache>
            </c:strRef>
          </c:tx>
          <c:spPr>
            <a:solidFill>
              <a:srgbClr val="FF8A7A"/>
            </a:solidFill>
            <a:effectLst/>
          </c:spPr>
          <c:invertIfNegative val="0"/>
          <c:dLbls>
            <c:numFmt formatCode="0.0&quot;%&quot;" sourceLinked="0"/>
            <c:spPr>
              <a:noFill/>
              <a:ln>
                <a:noFill/>
              </a:ln>
              <a:effectLst/>
            </c:spPr>
            <c:txPr>
              <a:bodyPr/>
              <a:lstStyle/>
              <a:p>
                <a:pPr>
                  <a:defRPr sz="1300" b="1" i="0" u="none" strike="noStrike">
                    <a:solidFill>
                      <a:srgbClr val="FFFFFF"/>
                    </a:solidFill>
                    <a:latin typeface="Calibri"/>
                  </a:defRPr>
                </a:pPr>
                <a:endParaRPr lang="en-001"/>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Aged 15-19</c:v>
                </c:pt>
                <c:pt idx="1">
                  <c:v>Aged 55-59</c:v>
                </c:pt>
              </c:strCache>
            </c:strRef>
          </c:cat>
          <c:val>
            <c:numRef>
              <c:f>Sheet1!$B$2:$B$3</c:f>
              <c:numCache>
                <c:formatCode>General</c:formatCode>
                <c:ptCount val="2"/>
                <c:pt idx="0">
                  <c:v>52.6</c:v>
                </c:pt>
                <c:pt idx="1">
                  <c:v>2.9</c:v>
                </c:pt>
              </c:numCache>
            </c:numRef>
          </c:val>
          <c:extLst>
            <c:ext xmlns:c16="http://schemas.microsoft.com/office/drawing/2014/chart" uri="{C3380CC4-5D6E-409C-BE32-E72D297353CC}">
              <c16:uniqueId val="{00000000-28FE-4ED2-83C9-A933BFB996B0}"/>
            </c:ext>
          </c:extLst>
        </c:ser>
        <c:ser>
          <c:idx val="1"/>
          <c:order val="1"/>
          <c:tx>
            <c:strRef>
              <c:f>Sheet1!$C$1</c:f>
              <c:strCache>
                <c:ptCount val="1"/>
                <c:pt idx="0">
                  <c:v>Men</c:v>
                </c:pt>
              </c:strCache>
            </c:strRef>
          </c:tx>
          <c:spPr>
            <a:solidFill>
              <a:srgbClr val="5AA9E6"/>
            </a:solidFill>
            <a:effectLst/>
          </c:spPr>
          <c:invertIfNegative val="0"/>
          <c:dLbls>
            <c:numFmt formatCode="0.0&quot;%&quot;" sourceLinked="0"/>
            <c:spPr>
              <a:noFill/>
              <a:ln>
                <a:noFill/>
              </a:ln>
              <a:effectLst/>
            </c:spPr>
            <c:txPr>
              <a:bodyPr/>
              <a:lstStyle/>
              <a:p>
                <a:pPr>
                  <a:defRPr sz="1300" b="1" i="0" u="none" strike="noStrike">
                    <a:solidFill>
                      <a:srgbClr val="FFFFFF"/>
                    </a:solidFill>
                    <a:latin typeface="Calibri"/>
                  </a:defRPr>
                </a:pPr>
                <a:endParaRPr lang="en-001"/>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Aged 15-19</c:v>
                </c:pt>
                <c:pt idx="1">
                  <c:v>Aged 55-59</c:v>
                </c:pt>
              </c:strCache>
            </c:strRef>
          </c:cat>
          <c:val>
            <c:numRef>
              <c:f>Sheet1!$C$2:$C$3</c:f>
              <c:numCache>
                <c:formatCode>General</c:formatCode>
                <c:ptCount val="2"/>
                <c:pt idx="0">
                  <c:v>85.1</c:v>
                </c:pt>
                <c:pt idx="1">
                  <c:v>43</c:v>
                </c:pt>
              </c:numCache>
            </c:numRef>
          </c:val>
          <c:extLst>
            <c:ext xmlns:c16="http://schemas.microsoft.com/office/drawing/2014/chart" uri="{C3380CC4-5D6E-409C-BE32-E72D297353CC}">
              <c16:uniqueId val="{00000001-28FE-4ED2-83C9-A933BFB996B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4EAF5"/>
                </a:solidFill>
                <a:latin typeface="Calibri"/>
              </a:defRPr>
            </a:pPr>
            <a:endParaRPr lang="en-001"/>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300">
              <a:solidFill>
                <a:srgbClr val="E4EAF5"/>
              </a:solidFill>
              <a:latin typeface="Calibri"/>
              <a:cs typeface="Calibri"/>
            </a:defRPr>
          </a:pPr>
          <a:endParaRPr lang="en-001"/>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935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variant: reg. no. ends in 04, 4 = 0x8+4, so variant 4 = rural Khyber Pakhtunkhwa. Data: PSLM 2019-20. Person file has no weight, province or area, so I attached hhweight, prov_code and urban_rural from the household file by hhid. Three groups: 19,896 persons in rural KP; 13,200 aged 10-64 with a literacy answer; 4,912 students with spending above zero. Everything is weighted. About 45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 default, ggplot(lit, aes(age, literate)) + geom_point(). A 0/1 variable stacks into two solid rows; overplotting hides the pattern. Right: my redesign. Three changes: (1) weighted conditional means by age band, (2) position on a common 0-100 scale, women and men as two lines, (3) direct labels instead of a legend, lighter grid. What the default shows that mine hides: the individual observations and single-year ages. About 1 minute 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4,912 students. Spending runs from Rs 30 to Rs 1.4 million so I use a log10 axis with bins 0.1 wide from 2.0 to 6.0 and density on the vertical axis. Weighted median Rs 7,000, p10 Rs 2,500, p90 Rs 25,000, ratio 10.00. Weighted and unweighted medians are both 7,000 because many families report the same round amount. Quantiles use my own function: the smallest value where cumulative weight share reaches p. Three students are excluded from the histogram; the statistics use all 4,912. About 1 minute 15.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 think matters most: literacy in rural KP is far higher among younger cohorts, but women still trail men at every age. At 55-59, 2.9% of women vs 43.0% of men. At 15-19, 52.6% vs 85.1%. The largest gap is at 45-49: 57.0% vs 10.5%, 46.6 points. An economist reads this as expanding schooling access across cohorts with girls still behind. What it cannot tell us: whether individuals lose literacy with age or older cohorts never attended school; it is one cross-section, so age and cohort effects are mixed. I reproduced the table in Python; women 15-19 is 52.6% in both. About 1 minute 15.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Kicker"/>
          <p:cNvSpPr txBox="1"/>
          <p:nvPr/>
        </p:nvSpPr>
        <p:spPr>
          <a:xfrm>
            <a:off x="457200" y="411480"/>
            <a:ext cx="5486400" cy="274320"/>
          </a:xfrm>
          <a:prstGeom prst="rect">
            <a:avLst/>
          </a:prstGeom>
          <a:noFill/>
          <a:ln/>
        </p:spPr>
        <p:txBody>
          <a:bodyPr wrap="square" lIns="0" tIns="0" rIns="0" bIns="0" rtlCol="0" anchor="ctr"/>
          <a:lstStyle/>
          <a:p>
            <a:pPr marL="0" indent="0">
              <a:buNone/>
            </a:pPr>
            <a:r>
              <a:rPr lang="en-US" sz="1300" b="1" kern="0" spc="300" dirty="0">
                <a:solidFill>
                  <a:srgbClr val="F2A93B"/>
                </a:solidFill>
                <a:latin typeface="Calibri" pitchFamily="34" charset="0"/>
                <a:ea typeface="Calibri" pitchFamily="34" charset="-122"/>
                <a:cs typeface="Calibri" pitchFamily="34" charset="-120"/>
              </a:rPr>
              <a:t>VARIANT 4  ·  KHYBER PAKHTUNKHWA, RURAL</a:t>
            </a:r>
            <a:endParaRPr lang="en-US" sz="1300" dirty="0"/>
          </a:p>
        </p:txBody>
      </p:sp>
      <p:sp>
        <p:nvSpPr>
          <p:cNvPr id="3" name="Title"/>
          <p:cNvSpPr txBox="1"/>
          <p:nvPr/>
        </p:nvSpPr>
        <p:spPr>
          <a:xfrm>
            <a:off x="457200" y="777240"/>
            <a:ext cx="4937760" cy="146304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Who can read, and what does school cost?</a:t>
            </a:r>
            <a:endParaRPr lang="en-US" sz="3800" dirty="0"/>
          </a:p>
        </p:txBody>
      </p:sp>
      <p:sp>
        <p:nvSpPr>
          <p:cNvPr id="4" name="Text 2"/>
          <p:cNvSpPr txBox="1"/>
          <p:nvPr/>
        </p:nvSpPr>
        <p:spPr>
          <a:xfrm>
            <a:off x="457200" y="2478314"/>
            <a:ext cx="4754880" cy="640080"/>
          </a:xfrm>
          <a:prstGeom prst="rect">
            <a:avLst/>
          </a:prstGeom>
          <a:noFill/>
          <a:ln/>
        </p:spPr>
        <p:txBody>
          <a:bodyPr wrap="square" lIns="0" tIns="0" rIns="0" bIns="0" rtlCol="0" anchor="t"/>
          <a:lstStyle/>
          <a:p>
            <a:pPr marL="0" indent="0">
              <a:buNone/>
            </a:pPr>
            <a:r>
              <a:rPr lang="en-US" sz="1600" dirty="0">
                <a:solidFill>
                  <a:srgbClr val="C9D4E8"/>
                </a:solidFill>
                <a:latin typeface="Calibri" pitchFamily="34" charset="0"/>
                <a:ea typeface="Calibri" pitchFamily="34" charset="-122"/>
                <a:cs typeface="Calibri" pitchFamily="34" charset="-120"/>
              </a:rPr>
              <a:t>Literacy by age and sex, and what families spend on school</a:t>
            </a:r>
            <a:endParaRPr lang="en-US" sz="1600" dirty="0"/>
          </a:p>
        </p:txBody>
      </p:sp>
      <p:sp>
        <p:nvSpPr>
          <p:cNvPr id="5" name="Variant card"/>
          <p:cNvSpPr/>
          <p:nvPr/>
        </p:nvSpPr>
        <p:spPr>
          <a:xfrm>
            <a:off x="457200" y="3246120"/>
            <a:ext cx="4572000" cy="1097280"/>
          </a:xfrm>
          <a:prstGeom prst="roundRect">
            <a:avLst>
              <a:gd name="adj" fmla="val 10000"/>
            </a:avLst>
          </a:prstGeom>
          <a:solidFill>
            <a:srgbClr val="22345A"/>
          </a:solidFill>
          <a:ln/>
        </p:spPr>
      </p:sp>
      <p:sp>
        <p:nvSpPr>
          <p:cNvPr id="6" name="Text 4"/>
          <p:cNvSpPr txBox="1"/>
          <p:nvPr/>
        </p:nvSpPr>
        <p:spPr>
          <a:xfrm>
            <a:off x="685800" y="3291840"/>
            <a:ext cx="4206240" cy="10058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FA24-BEDS-004</a:t>
            </a:r>
            <a:endParaRPr lang="en-US" sz="1800" dirty="0"/>
          </a:p>
          <a:p>
            <a:pPr marL="0" indent="0">
              <a:buNone/>
            </a:pPr>
            <a:r>
              <a:rPr lang="en-US" sz="1400" dirty="0">
                <a:solidFill>
                  <a:srgbClr val="C9D4E8"/>
                </a:solidFill>
                <a:latin typeface="Calibri" pitchFamily="34" charset="0"/>
                <a:ea typeface="Calibri" pitchFamily="34" charset="-122"/>
                <a:cs typeface="Calibri" pitchFamily="34" charset="-120"/>
              </a:rPr>
              <a:t>04 = 0 × 8 + 4  →  variant 4</a:t>
            </a:r>
            <a:endParaRPr lang="en-US" sz="1800" dirty="0"/>
          </a:p>
          <a:p>
            <a:pPr marL="0" indent="0">
              <a:buNone/>
            </a:pPr>
            <a:r>
              <a:rPr lang="en-US" sz="1400" dirty="0">
                <a:solidFill>
                  <a:srgbClr val="F2A93B"/>
                </a:solidFill>
                <a:latin typeface="Calibri" pitchFamily="34" charset="0"/>
                <a:ea typeface="Calibri" pitchFamily="34" charset="-122"/>
                <a:cs typeface="Calibri" pitchFamily="34" charset="-120"/>
              </a:rPr>
              <a:t>prov_code = 1  ·  urban_rural = 1</a:t>
            </a:r>
            <a:endParaRPr lang="en-US" sz="1800" dirty="0"/>
          </a:p>
        </p:txBody>
      </p:sp>
      <p:sp>
        <p:nvSpPr>
          <p:cNvPr id="7" name="Stat card 1"/>
          <p:cNvSpPr/>
          <p:nvPr/>
        </p:nvSpPr>
        <p:spPr>
          <a:xfrm>
            <a:off x="5669280" y="411480"/>
            <a:ext cx="3017520" cy="1234440"/>
          </a:xfrm>
          <a:prstGeom prst="roundRect">
            <a:avLst>
              <a:gd name="adj" fmla="val 8889"/>
            </a:avLst>
          </a:prstGeom>
          <a:solidFill>
            <a:srgbClr val="22345A"/>
          </a:solidFill>
          <a:ln/>
          <a:effectLst>
            <a:outerShdw blurRad="101600" dist="25400" dir="5400000" algn="bl" rotWithShape="0">
              <a:srgbClr val="000000">
                <a:alpha val="15000"/>
              </a:srgbClr>
            </a:outerShdw>
          </a:effectLst>
        </p:spPr>
      </p:sp>
      <p:sp>
        <p:nvSpPr>
          <p:cNvPr id="8" name="Text 6"/>
          <p:cNvSpPr txBox="1"/>
          <p:nvPr/>
        </p:nvSpPr>
        <p:spPr>
          <a:xfrm>
            <a:off x="5897880" y="502920"/>
            <a:ext cx="2651760" cy="685800"/>
          </a:xfrm>
          <a:prstGeom prst="rect">
            <a:avLst/>
          </a:prstGeom>
          <a:noFill/>
          <a:ln/>
        </p:spPr>
        <p:txBody>
          <a:bodyPr wrap="square" lIns="0" tIns="0" rIns="0" bIns="0" rtlCol="0" anchor="ctr"/>
          <a:lstStyle/>
          <a:p>
            <a:pPr marL="0" indent="0">
              <a:buNone/>
            </a:pPr>
            <a:r>
              <a:rPr lang="en-US" sz="4000" b="1" dirty="0">
                <a:solidFill>
                  <a:srgbClr val="F2A93B"/>
                </a:solidFill>
                <a:latin typeface="Cambria" pitchFamily="34" charset="0"/>
                <a:ea typeface="Cambria" pitchFamily="34" charset="-122"/>
                <a:cs typeface="Cambria" pitchFamily="34" charset="-120"/>
              </a:rPr>
              <a:t>19,896</a:t>
            </a:r>
            <a:endParaRPr lang="en-US" sz="4000" dirty="0"/>
          </a:p>
        </p:txBody>
      </p:sp>
      <p:sp>
        <p:nvSpPr>
          <p:cNvPr id="9" name="Text 7"/>
          <p:cNvSpPr txBox="1"/>
          <p:nvPr/>
        </p:nvSpPr>
        <p:spPr>
          <a:xfrm>
            <a:off x="5897880" y="1188720"/>
            <a:ext cx="2651760" cy="320040"/>
          </a:xfrm>
          <a:prstGeom prst="rect">
            <a:avLst/>
          </a:prstGeom>
          <a:noFill/>
          <a:ln/>
        </p:spPr>
        <p:txBody>
          <a:bodyPr wrap="square" lIns="0" tIns="0" rIns="0" bIns="0" rtlCol="0" anchor="ctr"/>
          <a:lstStyle/>
          <a:p>
            <a:pPr marL="0" indent="0">
              <a:buNone/>
            </a:pPr>
            <a:r>
              <a:rPr lang="en-US" sz="1400" dirty="0">
                <a:solidFill>
                  <a:srgbClr val="E4EAF5"/>
                </a:solidFill>
                <a:latin typeface="Calibri" pitchFamily="34" charset="0"/>
                <a:ea typeface="Calibri" pitchFamily="34" charset="-122"/>
                <a:cs typeface="Calibri" pitchFamily="34" charset="-120"/>
              </a:rPr>
              <a:t>persons in rural KP</a:t>
            </a:r>
            <a:endParaRPr lang="en-US" sz="1400" dirty="0"/>
          </a:p>
        </p:txBody>
      </p:sp>
      <p:sp>
        <p:nvSpPr>
          <p:cNvPr id="10" name="Stat card 2"/>
          <p:cNvSpPr/>
          <p:nvPr/>
        </p:nvSpPr>
        <p:spPr>
          <a:xfrm>
            <a:off x="5669280" y="1828800"/>
            <a:ext cx="3017520" cy="1234440"/>
          </a:xfrm>
          <a:prstGeom prst="roundRect">
            <a:avLst>
              <a:gd name="adj" fmla="val 8889"/>
            </a:avLst>
          </a:prstGeom>
          <a:solidFill>
            <a:srgbClr val="22345A"/>
          </a:solidFill>
          <a:ln/>
          <a:effectLst>
            <a:outerShdw blurRad="101600" dist="25400" dir="5400000" algn="bl" rotWithShape="0">
              <a:srgbClr val="000000">
                <a:alpha val="15000"/>
              </a:srgbClr>
            </a:outerShdw>
          </a:effectLst>
        </p:spPr>
      </p:sp>
      <p:sp>
        <p:nvSpPr>
          <p:cNvPr id="11" name="Text 9"/>
          <p:cNvSpPr txBox="1"/>
          <p:nvPr/>
        </p:nvSpPr>
        <p:spPr>
          <a:xfrm>
            <a:off x="5897880" y="1920240"/>
            <a:ext cx="2651760" cy="685800"/>
          </a:xfrm>
          <a:prstGeom prst="rect">
            <a:avLst/>
          </a:prstGeom>
          <a:noFill/>
          <a:ln/>
        </p:spPr>
        <p:txBody>
          <a:bodyPr wrap="square" lIns="0" tIns="0" rIns="0" bIns="0" rtlCol="0" anchor="ctr"/>
          <a:lstStyle/>
          <a:p>
            <a:pPr marL="0" indent="0">
              <a:buNone/>
            </a:pPr>
            <a:r>
              <a:rPr lang="en-US" sz="4000" b="1" dirty="0">
                <a:solidFill>
                  <a:srgbClr val="F2A93B"/>
                </a:solidFill>
                <a:latin typeface="Cambria" pitchFamily="34" charset="0"/>
                <a:ea typeface="Cambria" pitchFamily="34" charset="-122"/>
                <a:cs typeface="Cambria" pitchFamily="34" charset="-120"/>
              </a:rPr>
              <a:t>13,200</a:t>
            </a:r>
            <a:endParaRPr lang="en-US" sz="4000" dirty="0"/>
          </a:p>
        </p:txBody>
      </p:sp>
      <p:sp>
        <p:nvSpPr>
          <p:cNvPr id="12" name="Text 10"/>
          <p:cNvSpPr txBox="1"/>
          <p:nvPr/>
        </p:nvSpPr>
        <p:spPr>
          <a:xfrm>
            <a:off x="5897880" y="2606040"/>
            <a:ext cx="2651760" cy="320040"/>
          </a:xfrm>
          <a:prstGeom prst="rect">
            <a:avLst/>
          </a:prstGeom>
          <a:noFill/>
          <a:ln/>
        </p:spPr>
        <p:txBody>
          <a:bodyPr wrap="square" lIns="0" tIns="0" rIns="0" bIns="0" rtlCol="0" anchor="ctr"/>
          <a:lstStyle/>
          <a:p>
            <a:pPr marL="0" indent="0">
              <a:buNone/>
            </a:pPr>
            <a:r>
              <a:rPr lang="en-US" sz="1400" dirty="0">
                <a:solidFill>
                  <a:srgbClr val="E4EAF5"/>
                </a:solidFill>
                <a:latin typeface="Calibri" pitchFamily="34" charset="0"/>
                <a:ea typeface="Calibri" pitchFamily="34" charset="-122"/>
                <a:cs typeface="Calibri" pitchFamily="34" charset="-120"/>
              </a:rPr>
              <a:t>literacy sample (age 10-64)</a:t>
            </a:r>
            <a:endParaRPr lang="en-US" sz="1400" dirty="0"/>
          </a:p>
        </p:txBody>
      </p:sp>
      <p:sp>
        <p:nvSpPr>
          <p:cNvPr id="13" name="Stat card 3"/>
          <p:cNvSpPr/>
          <p:nvPr/>
        </p:nvSpPr>
        <p:spPr>
          <a:xfrm>
            <a:off x="5669280" y="3246120"/>
            <a:ext cx="3017520" cy="1234440"/>
          </a:xfrm>
          <a:prstGeom prst="roundRect">
            <a:avLst>
              <a:gd name="adj" fmla="val 8889"/>
            </a:avLst>
          </a:prstGeom>
          <a:solidFill>
            <a:srgbClr val="22345A"/>
          </a:solidFill>
          <a:ln/>
          <a:effectLst>
            <a:outerShdw blurRad="101600" dist="25400" dir="5400000" algn="bl" rotWithShape="0">
              <a:srgbClr val="000000">
                <a:alpha val="15000"/>
              </a:srgbClr>
            </a:outerShdw>
          </a:effectLst>
        </p:spPr>
      </p:sp>
      <p:sp>
        <p:nvSpPr>
          <p:cNvPr id="14" name="Text 12"/>
          <p:cNvSpPr txBox="1"/>
          <p:nvPr/>
        </p:nvSpPr>
        <p:spPr>
          <a:xfrm>
            <a:off x="5897880" y="3337560"/>
            <a:ext cx="2651760" cy="685800"/>
          </a:xfrm>
          <a:prstGeom prst="rect">
            <a:avLst/>
          </a:prstGeom>
          <a:noFill/>
          <a:ln/>
        </p:spPr>
        <p:txBody>
          <a:bodyPr wrap="square" lIns="0" tIns="0" rIns="0" bIns="0" rtlCol="0" anchor="ctr"/>
          <a:lstStyle/>
          <a:p>
            <a:pPr marL="0" indent="0">
              <a:buNone/>
            </a:pPr>
            <a:r>
              <a:rPr lang="en-US" sz="4000" b="1" dirty="0">
                <a:solidFill>
                  <a:srgbClr val="F2A93B"/>
                </a:solidFill>
                <a:latin typeface="Cambria" pitchFamily="34" charset="0"/>
                <a:ea typeface="Cambria" pitchFamily="34" charset="-122"/>
                <a:cs typeface="Cambria" pitchFamily="34" charset="-120"/>
              </a:rPr>
              <a:t>4,912</a:t>
            </a:r>
            <a:endParaRPr lang="en-US" sz="4000" dirty="0"/>
          </a:p>
        </p:txBody>
      </p:sp>
      <p:sp>
        <p:nvSpPr>
          <p:cNvPr id="15" name="Text 13"/>
          <p:cNvSpPr txBox="1"/>
          <p:nvPr/>
        </p:nvSpPr>
        <p:spPr>
          <a:xfrm>
            <a:off x="5897880" y="4023360"/>
            <a:ext cx="2651760" cy="320040"/>
          </a:xfrm>
          <a:prstGeom prst="rect">
            <a:avLst/>
          </a:prstGeom>
          <a:noFill/>
          <a:ln/>
        </p:spPr>
        <p:txBody>
          <a:bodyPr wrap="square" lIns="0" tIns="0" rIns="0" bIns="0" rtlCol="0" anchor="ctr"/>
          <a:lstStyle/>
          <a:p>
            <a:pPr marL="0" indent="0">
              <a:buNone/>
            </a:pPr>
            <a:r>
              <a:rPr lang="en-US" sz="1400" dirty="0">
                <a:solidFill>
                  <a:srgbClr val="E4EAF5"/>
                </a:solidFill>
                <a:latin typeface="Calibri" pitchFamily="34" charset="0"/>
                <a:ea typeface="Calibri" pitchFamily="34" charset="-122"/>
                <a:cs typeface="Calibri" pitchFamily="34" charset="-120"/>
              </a:rPr>
              <a:t>students (spending &gt; 0)</a:t>
            </a:r>
            <a:endParaRPr lang="en-US" sz="1400" dirty="0"/>
          </a:p>
        </p:txBody>
      </p:sp>
      <p:sp>
        <p:nvSpPr>
          <p:cNvPr id="16" name="Text 14"/>
          <p:cNvSpPr txBox="1"/>
          <p:nvPr/>
        </p:nvSpPr>
        <p:spPr>
          <a:xfrm>
            <a:off x="457200" y="4572000"/>
            <a:ext cx="8229600" cy="274320"/>
          </a:xfrm>
          <a:prstGeom prst="rect">
            <a:avLst/>
          </a:prstGeom>
          <a:noFill/>
          <a:ln/>
        </p:spPr>
        <p:txBody>
          <a:bodyPr wrap="square" lIns="0" tIns="0" rIns="0" bIns="0" rtlCol="0" anchor="ctr"/>
          <a:lstStyle/>
          <a:p>
            <a:pPr marL="0" indent="0">
              <a:buNone/>
            </a:pPr>
            <a:r>
              <a:rPr lang="en-US" sz="1100" dirty="0">
                <a:solidFill>
                  <a:srgbClr val="9FB0CC"/>
                </a:solidFill>
                <a:latin typeface="Calibri" pitchFamily="34" charset="0"/>
                <a:ea typeface="Calibri" pitchFamily="34" charset="-122"/>
                <a:cs typeface="Calibri" pitchFamily="34" charset="-120"/>
              </a:rPr>
              <a:t>Abdul Muqeet  ·  Person file joined to household file by hhid  ·  every statistic weighted by hhweight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Makeover: from two rows of dots to a clear story</a:t>
            </a:r>
            <a:endParaRPr lang="en-US" sz="3000" dirty="0"/>
          </a:p>
        </p:txBody>
      </p:sp>
      <p:sp>
        <p:nvSpPr>
          <p:cNvPr id="3" name="Shape 1"/>
          <p:cNvSpPr/>
          <p:nvPr/>
        </p:nvSpPr>
        <p:spPr>
          <a:xfrm>
            <a:off x="457200" y="1005840"/>
            <a:ext cx="4023360" cy="3017520"/>
          </a:xfrm>
          <a:prstGeom prst="roundRect">
            <a:avLst>
              <a:gd name="adj" fmla="val 3030"/>
            </a:avLst>
          </a:prstGeom>
          <a:solidFill>
            <a:srgbClr val="F2F5F9"/>
          </a:solidFill>
          <a:ln/>
          <a:effectLst>
            <a:outerShdw blurRad="101600" dist="25400" dir="5400000" algn="bl" rotWithShape="0">
              <a:srgbClr val="000000">
                <a:alpha val="15000"/>
              </a:srgbClr>
            </a:outerShdw>
          </a:effectLst>
        </p:spPr>
      </p:sp>
      <p:sp>
        <p:nvSpPr>
          <p:cNvPr id="4" name="Text 2"/>
          <p:cNvSpPr txBox="1"/>
          <p:nvPr/>
        </p:nvSpPr>
        <p:spPr>
          <a:xfrm>
            <a:off x="640080" y="1078992"/>
            <a:ext cx="1828800" cy="274320"/>
          </a:xfrm>
          <a:prstGeom prst="rect">
            <a:avLst/>
          </a:prstGeom>
          <a:noFill/>
          <a:ln/>
        </p:spPr>
        <p:txBody>
          <a:bodyPr wrap="square" lIns="0" tIns="0" rIns="0" bIns="0" rtlCol="0" anchor="ctr"/>
          <a:lstStyle/>
          <a:p>
            <a:pPr marL="0" indent="0">
              <a:buNone/>
            </a:pPr>
            <a:r>
              <a:rPr lang="en-US" sz="1300" b="1" kern="0" spc="200" dirty="0">
                <a:solidFill>
                  <a:srgbClr val="5B6779"/>
                </a:solidFill>
                <a:latin typeface="Calibri" pitchFamily="34" charset="0"/>
                <a:ea typeface="Calibri" pitchFamily="34" charset="-122"/>
                <a:cs typeface="Calibri" pitchFamily="34" charset="-120"/>
              </a:rPr>
              <a:t>DEFAULT</a:t>
            </a:r>
            <a:endParaRPr lang="en-US" sz="1300" dirty="0"/>
          </a:p>
        </p:txBody>
      </p:sp>
      <p:sp>
        <p:nvSpPr>
          <p:cNvPr id="6" name="Shape 3"/>
          <p:cNvSpPr/>
          <p:nvPr/>
        </p:nvSpPr>
        <p:spPr>
          <a:xfrm>
            <a:off x="4663440" y="1005840"/>
            <a:ext cx="4023360" cy="3017520"/>
          </a:xfrm>
          <a:prstGeom prst="roundRect">
            <a:avLst>
              <a:gd name="adj" fmla="val 3030"/>
            </a:avLst>
          </a:prstGeom>
          <a:solidFill>
            <a:srgbClr val="F2F5F9"/>
          </a:solidFill>
          <a:ln/>
          <a:effectLst>
            <a:outerShdw blurRad="101600" dist="25400" dir="5400000" algn="bl" rotWithShape="0">
              <a:srgbClr val="000000">
                <a:alpha val="15000"/>
              </a:srgbClr>
            </a:outerShdw>
          </a:effectLst>
        </p:spPr>
      </p:sp>
      <p:sp>
        <p:nvSpPr>
          <p:cNvPr id="7" name="Text 4"/>
          <p:cNvSpPr txBox="1"/>
          <p:nvPr/>
        </p:nvSpPr>
        <p:spPr>
          <a:xfrm>
            <a:off x="4846320" y="1078992"/>
            <a:ext cx="1828800" cy="274320"/>
          </a:xfrm>
          <a:prstGeom prst="rect">
            <a:avLst/>
          </a:prstGeom>
          <a:noFill/>
          <a:ln/>
        </p:spPr>
        <p:txBody>
          <a:bodyPr wrap="square" lIns="0" tIns="0" rIns="0" bIns="0" rtlCol="0" anchor="ctr"/>
          <a:lstStyle/>
          <a:p>
            <a:pPr marL="0" indent="0">
              <a:buNone/>
            </a:pPr>
            <a:r>
              <a:rPr lang="en-US" sz="1300" b="1" kern="0" spc="200" dirty="0">
                <a:solidFill>
                  <a:srgbClr val="1B6CA8"/>
                </a:solidFill>
                <a:latin typeface="Calibri" pitchFamily="34" charset="0"/>
                <a:ea typeface="Calibri" pitchFamily="34" charset="-122"/>
                <a:cs typeface="Calibri" pitchFamily="34" charset="-120"/>
              </a:rPr>
              <a:t>REDESIGN</a:t>
            </a:r>
            <a:endParaRPr lang="en-US" sz="1300" dirty="0"/>
          </a:p>
        </p:txBody>
      </p:sp>
      <p:sp>
        <p:nvSpPr>
          <p:cNvPr id="9" name="Change 1"/>
          <p:cNvSpPr/>
          <p:nvPr/>
        </p:nvSpPr>
        <p:spPr>
          <a:xfrm>
            <a:off x="457200" y="4160520"/>
            <a:ext cx="2697480" cy="566928"/>
          </a:xfrm>
          <a:prstGeom prst="roundRect">
            <a:avLst>
              <a:gd name="adj" fmla="val 12903"/>
            </a:avLst>
          </a:prstGeom>
          <a:solidFill>
            <a:srgbClr val="14213D"/>
          </a:solidFill>
          <a:ln/>
        </p:spPr>
      </p:sp>
      <p:sp>
        <p:nvSpPr>
          <p:cNvPr id="10" name="Text 6"/>
          <p:cNvSpPr txBox="1"/>
          <p:nvPr/>
        </p:nvSpPr>
        <p:spPr>
          <a:xfrm>
            <a:off x="566928" y="4178808"/>
            <a:ext cx="2487168" cy="530352"/>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Conditional means</a:t>
            </a:r>
            <a:endParaRPr lang="en-US" sz="1300" dirty="0"/>
          </a:p>
          <a:p>
            <a:pPr marL="0" indent="0">
              <a:buNone/>
            </a:pPr>
            <a:r>
              <a:rPr lang="en-US" sz="1100" dirty="0">
                <a:solidFill>
                  <a:srgbClr val="E4EAF5"/>
                </a:solidFill>
                <a:latin typeface="Calibri" pitchFamily="34" charset="0"/>
                <a:ea typeface="Calibri" pitchFamily="34" charset="-122"/>
                <a:cs typeface="Calibri" pitchFamily="34" charset="-120"/>
              </a:rPr>
              <a:t>not 13,200 overlapping 0/1 dots</a:t>
            </a:r>
            <a:endParaRPr lang="en-US" sz="1300" dirty="0"/>
          </a:p>
        </p:txBody>
      </p:sp>
      <p:sp>
        <p:nvSpPr>
          <p:cNvPr id="11" name="Change 2"/>
          <p:cNvSpPr/>
          <p:nvPr/>
        </p:nvSpPr>
        <p:spPr>
          <a:xfrm>
            <a:off x="3291840" y="4160520"/>
            <a:ext cx="2697480" cy="566928"/>
          </a:xfrm>
          <a:prstGeom prst="roundRect">
            <a:avLst>
              <a:gd name="adj" fmla="val 12903"/>
            </a:avLst>
          </a:prstGeom>
          <a:solidFill>
            <a:srgbClr val="14213D"/>
          </a:solidFill>
          <a:ln/>
        </p:spPr>
      </p:sp>
      <p:sp>
        <p:nvSpPr>
          <p:cNvPr id="12" name="Text 8"/>
          <p:cNvSpPr txBox="1"/>
          <p:nvPr/>
        </p:nvSpPr>
        <p:spPr>
          <a:xfrm>
            <a:off x="3401568" y="4178808"/>
            <a:ext cx="2487168" cy="530352"/>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Common 0-100 scale</a:t>
            </a:r>
            <a:endParaRPr lang="en-US" sz="1300" dirty="0"/>
          </a:p>
          <a:p>
            <a:pPr marL="0" indent="0">
              <a:buNone/>
            </a:pPr>
            <a:r>
              <a:rPr lang="en-US" sz="1100" dirty="0">
                <a:solidFill>
                  <a:srgbClr val="E4EAF5"/>
                </a:solidFill>
                <a:latin typeface="Calibri" pitchFamily="34" charset="0"/>
                <a:ea typeface="Calibri" pitchFamily="34" charset="-122"/>
                <a:cs typeface="Calibri" pitchFamily="34" charset="-120"/>
              </a:rPr>
              <a:t>position is the easiest channel to read</a:t>
            </a:r>
            <a:endParaRPr lang="en-US" sz="1300" dirty="0"/>
          </a:p>
        </p:txBody>
      </p:sp>
      <p:sp>
        <p:nvSpPr>
          <p:cNvPr id="13" name="Change 3"/>
          <p:cNvSpPr/>
          <p:nvPr/>
        </p:nvSpPr>
        <p:spPr>
          <a:xfrm>
            <a:off x="6126480" y="4160520"/>
            <a:ext cx="2697480" cy="566928"/>
          </a:xfrm>
          <a:prstGeom prst="roundRect">
            <a:avLst>
              <a:gd name="adj" fmla="val 12903"/>
            </a:avLst>
          </a:prstGeom>
          <a:solidFill>
            <a:srgbClr val="14213D"/>
          </a:solidFill>
          <a:ln/>
        </p:spPr>
      </p:sp>
      <p:sp>
        <p:nvSpPr>
          <p:cNvPr id="14" name="Text 10"/>
          <p:cNvSpPr txBox="1"/>
          <p:nvPr/>
        </p:nvSpPr>
        <p:spPr>
          <a:xfrm>
            <a:off x="6236208" y="4178808"/>
            <a:ext cx="2487168" cy="530352"/>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Direct labels</a:t>
            </a:r>
            <a:endParaRPr lang="en-US" sz="1300" dirty="0"/>
          </a:p>
          <a:p>
            <a:pPr marL="0" indent="0">
              <a:buNone/>
            </a:pPr>
            <a:r>
              <a:rPr lang="en-US" sz="1100" dirty="0">
                <a:solidFill>
                  <a:srgbClr val="E4EAF5"/>
                </a:solidFill>
                <a:latin typeface="Calibri" pitchFamily="34" charset="0"/>
                <a:ea typeface="Calibri" pitchFamily="34" charset="-122"/>
                <a:cs typeface="Calibri" pitchFamily="34" charset="-120"/>
              </a:rPr>
              <a:t>no legend, less ink</a:t>
            </a:r>
            <a:endParaRPr lang="en-US" sz="1300" dirty="0"/>
          </a:p>
        </p:txBody>
      </p:sp>
      <p:pic>
        <p:nvPicPr>
          <p:cNvPr id="16" name="Graphic 15">
            <a:extLst>
              <a:ext uri="{FF2B5EF4-FFF2-40B4-BE49-F238E27FC236}">
                <a16:creationId xmlns:a16="http://schemas.microsoft.com/office/drawing/2014/main" id="{78D8AA91-57DA-4D9A-A077-000E8DD370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6928" y="1371600"/>
            <a:ext cx="3748808" cy="2542032"/>
          </a:xfrm>
          <a:prstGeom prst="rect">
            <a:avLst/>
          </a:prstGeom>
        </p:spPr>
      </p:pic>
      <p:pic>
        <p:nvPicPr>
          <p:cNvPr id="18" name="Graphic 17">
            <a:extLst>
              <a:ext uri="{FF2B5EF4-FFF2-40B4-BE49-F238E27FC236}">
                <a16:creationId xmlns:a16="http://schemas.microsoft.com/office/drawing/2014/main" id="{EFF30AB6-F728-4843-AC41-50EA6CE451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2882" y="1353312"/>
            <a:ext cx="3784475" cy="24871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Half of rural KP students cost Rs 7,000 a year or less</a:t>
            </a:r>
            <a:endParaRPr lang="en-US" sz="2800" dirty="0"/>
          </a:p>
        </p:txBody>
      </p:sp>
      <p:sp>
        <p:nvSpPr>
          <p:cNvPr id="3" name="Shape 1"/>
          <p:cNvSpPr/>
          <p:nvPr/>
        </p:nvSpPr>
        <p:spPr>
          <a:xfrm>
            <a:off x="457200" y="1051560"/>
            <a:ext cx="5852160" cy="3063240"/>
          </a:xfrm>
          <a:prstGeom prst="roundRect">
            <a:avLst>
              <a:gd name="adj" fmla="val 2985"/>
            </a:avLst>
          </a:prstGeom>
          <a:solidFill>
            <a:srgbClr val="F2F5F9"/>
          </a:solidFill>
          <a:ln/>
          <a:effectLst>
            <a:outerShdw blurRad="101600" dist="25400" dir="5400000" algn="bl" rotWithShape="0">
              <a:srgbClr val="000000">
                <a:alpha val="15000"/>
              </a:srgbClr>
            </a:outerShdw>
          </a:effectLst>
        </p:spPr>
      </p:sp>
      <p:sp>
        <p:nvSpPr>
          <p:cNvPr id="5" name="Text 2"/>
          <p:cNvSpPr txBox="1"/>
          <p:nvPr/>
        </p:nvSpPr>
        <p:spPr>
          <a:xfrm>
            <a:off x="640080" y="3767328"/>
            <a:ext cx="5486400" cy="320040"/>
          </a:xfrm>
          <a:prstGeom prst="rect">
            <a:avLst/>
          </a:prstGeom>
          <a:noFill/>
          <a:ln/>
        </p:spPr>
        <p:txBody>
          <a:bodyPr wrap="square" lIns="0" tIns="0" rIns="0" bIns="0" rtlCol="0" anchor="ctr"/>
          <a:lstStyle/>
          <a:p>
            <a:pPr marL="0" indent="0">
              <a:buNone/>
            </a:pPr>
            <a:r>
              <a:rPr lang="en-US" sz="1000" dirty="0">
                <a:solidFill>
                  <a:srgbClr val="5B6779"/>
                </a:solidFill>
                <a:latin typeface="Calibri" pitchFamily="34" charset="0"/>
                <a:ea typeface="Calibri" pitchFamily="34" charset="-122"/>
                <a:cs typeface="Calibri" pitchFamily="34" charset="-120"/>
              </a:rPr>
              <a:t>Weighted histogram, log10 bins 0.1 wide. 3 students outside Rs 100-1,000,000 excluded from the histogram only.</a:t>
            </a:r>
            <a:endParaRPr lang="en-US" sz="1000" dirty="0"/>
          </a:p>
        </p:txBody>
      </p:sp>
      <p:sp>
        <p:nvSpPr>
          <p:cNvPr id="6" name="Shape 3"/>
          <p:cNvSpPr/>
          <p:nvPr/>
        </p:nvSpPr>
        <p:spPr>
          <a:xfrm>
            <a:off x="6537960" y="1051560"/>
            <a:ext cx="2148840" cy="694944"/>
          </a:xfrm>
          <a:prstGeom prst="roundRect">
            <a:avLst>
              <a:gd name="adj" fmla="val 10526"/>
            </a:avLst>
          </a:prstGeom>
          <a:solidFill>
            <a:srgbClr val="14213D"/>
          </a:solidFill>
          <a:ln/>
        </p:spPr>
      </p:sp>
      <p:sp>
        <p:nvSpPr>
          <p:cNvPr id="7" name="Text 4"/>
          <p:cNvSpPr txBox="1"/>
          <p:nvPr/>
        </p:nvSpPr>
        <p:spPr>
          <a:xfrm>
            <a:off x="6647688" y="1069848"/>
            <a:ext cx="1965960" cy="658368"/>
          </a:xfrm>
          <a:prstGeom prst="rect">
            <a:avLst/>
          </a:prstGeom>
          <a:noFill/>
          <a:ln/>
        </p:spPr>
        <p:txBody>
          <a:bodyPr wrap="square" lIns="0" tIns="0" rIns="0" bIns="0" rtlCol="0" anchor="ctr"/>
          <a:lstStyle/>
          <a:p>
            <a:pPr marL="0" indent="0">
              <a:buNone/>
            </a:pPr>
            <a:r>
              <a:rPr lang="en-US" sz="2200" b="1" dirty="0">
                <a:solidFill>
                  <a:srgbClr val="F2A93B"/>
                </a:solidFill>
                <a:latin typeface="Cambria" pitchFamily="34" charset="0"/>
                <a:ea typeface="Cambria" pitchFamily="34" charset="-122"/>
                <a:cs typeface="Cambria" pitchFamily="34" charset="-120"/>
              </a:rPr>
              <a:t>Rs 7,000</a:t>
            </a:r>
            <a:endParaRPr lang="en-US" sz="2200" dirty="0"/>
          </a:p>
          <a:p>
            <a:pPr marL="0" indent="0">
              <a:buNone/>
            </a:pPr>
            <a:r>
              <a:rPr lang="en-US" sz="1050" dirty="0">
                <a:solidFill>
                  <a:srgbClr val="E4EAF5"/>
                </a:solidFill>
                <a:latin typeface="Calibri" pitchFamily="34" charset="0"/>
                <a:ea typeface="Calibri" pitchFamily="34" charset="-122"/>
                <a:cs typeface="Calibri" pitchFamily="34" charset="-120"/>
              </a:rPr>
              <a:t>weighted median (= unweighted)</a:t>
            </a:r>
            <a:endParaRPr lang="en-US" sz="2200" dirty="0"/>
          </a:p>
        </p:txBody>
      </p:sp>
      <p:sp>
        <p:nvSpPr>
          <p:cNvPr id="8" name="Shape 5"/>
          <p:cNvSpPr/>
          <p:nvPr/>
        </p:nvSpPr>
        <p:spPr>
          <a:xfrm>
            <a:off x="6537960" y="1837944"/>
            <a:ext cx="2148840" cy="694944"/>
          </a:xfrm>
          <a:prstGeom prst="roundRect">
            <a:avLst>
              <a:gd name="adj" fmla="val 10526"/>
            </a:avLst>
          </a:prstGeom>
          <a:solidFill>
            <a:srgbClr val="F2F5F9"/>
          </a:solidFill>
          <a:ln/>
        </p:spPr>
      </p:sp>
      <p:sp>
        <p:nvSpPr>
          <p:cNvPr id="9" name="Text 6"/>
          <p:cNvSpPr txBox="1"/>
          <p:nvPr/>
        </p:nvSpPr>
        <p:spPr>
          <a:xfrm>
            <a:off x="6647688" y="1856232"/>
            <a:ext cx="1965960" cy="658368"/>
          </a:xfrm>
          <a:prstGeom prst="rect">
            <a:avLst/>
          </a:prstGeom>
          <a:noFill/>
          <a:ln/>
        </p:spPr>
        <p:txBody>
          <a:bodyPr wrap="square" lIns="0" tIns="0" rIns="0" bIns="0" rtlCol="0" anchor="ctr"/>
          <a:lstStyle/>
          <a:p>
            <a:pPr marL="0" indent="0">
              <a:buNone/>
            </a:pPr>
            <a:r>
              <a:rPr lang="en-US" sz="2200" b="1" dirty="0">
                <a:solidFill>
                  <a:srgbClr val="14213D"/>
                </a:solidFill>
                <a:latin typeface="Cambria" pitchFamily="34" charset="0"/>
                <a:ea typeface="Cambria" pitchFamily="34" charset="-122"/>
                <a:cs typeface="Cambria" pitchFamily="34" charset="-120"/>
              </a:rPr>
              <a:t>Rs 2,500</a:t>
            </a:r>
            <a:endParaRPr lang="en-US" sz="2200" dirty="0"/>
          </a:p>
          <a:p>
            <a:pPr marL="0" indent="0">
              <a:buNone/>
            </a:pPr>
            <a:r>
              <a:rPr lang="en-US" sz="1050" dirty="0">
                <a:solidFill>
                  <a:srgbClr val="5B6779"/>
                </a:solidFill>
                <a:latin typeface="Calibri" pitchFamily="34" charset="0"/>
                <a:ea typeface="Calibri" pitchFamily="34" charset="-122"/>
                <a:cs typeface="Calibri" pitchFamily="34" charset="-120"/>
              </a:rPr>
              <a:t>weighted 10th percentile</a:t>
            </a:r>
            <a:endParaRPr lang="en-US" sz="2200" dirty="0"/>
          </a:p>
        </p:txBody>
      </p:sp>
      <p:sp>
        <p:nvSpPr>
          <p:cNvPr id="10" name="Shape 7"/>
          <p:cNvSpPr/>
          <p:nvPr/>
        </p:nvSpPr>
        <p:spPr>
          <a:xfrm>
            <a:off x="6537960" y="2624328"/>
            <a:ext cx="2148840" cy="694944"/>
          </a:xfrm>
          <a:prstGeom prst="roundRect">
            <a:avLst>
              <a:gd name="adj" fmla="val 10526"/>
            </a:avLst>
          </a:prstGeom>
          <a:solidFill>
            <a:srgbClr val="F2F5F9"/>
          </a:solidFill>
          <a:ln/>
        </p:spPr>
      </p:sp>
      <p:sp>
        <p:nvSpPr>
          <p:cNvPr id="11" name="Text 8"/>
          <p:cNvSpPr txBox="1"/>
          <p:nvPr/>
        </p:nvSpPr>
        <p:spPr>
          <a:xfrm>
            <a:off x="6647688" y="2642616"/>
            <a:ext cx="1965960" cy="658368"/>
          </a:xfrm>
          <a:prstGeom prst="rect">
            <a:avLst/>
          </a:prstGeom>
          <a:noFill/>
          <a:ln/>
        </p:spPr>
        <p:txBody>
          <a:bodyPr wrap="square" lIns="0" tIns="0" rIns="0" bIns="0" rtlCol="0" anchor="ctr"/>
          <a:lstStyle/>
          <a:p>
            <a:pPr marL="0" indent="0">
              <a:buNone/>
            </a:pPr>
            <a:r>
              <a:rPr lang="en-US" sz="2200" b="1" dirty="0">
                <a:solidFill>
                  <a:srgbClr val="14213D"/>
                </a:solidFill>
                <a:latin typeface="Cambria" pitchFamily="34" charset="0"/>
                <a:ea typeface="Cambria" pitchFamily="34" charset="-122"/>
                <a:cs typeface="Cambria" pitchFamily="34" charset="-120"/>
              </a:rPr>
              <a:t>Rs 25,000</a:t>
            </a:r>
            <a:endParaRPr lang="en-US" sz="2200" dirty="0"/>
          </a:p>
          <a:p>
            <a:pPr marL="0" indent="0">
              <a:buNone/>
            </a:pPr>
            <a:r>
              <a:rPr lang="en-US" sz="1050" dirty="0">
                <a:solidFill>
                  <a:srgbClr val="5B6779"/>
                </a:solidFill>
                <a:latin typeface="Calibri" pitchFamily="34" charset="0"/>
                <a:ea typeface="Calibri" pitchFamily="34" charset="-122"/>
                <a:cs typeface="Calibri" pitchFamily="34" charset="-120"/>
              </a:rPr>
              <a:t>weighted 90th percentile</a:t>
            </a:r>
            <a:endParaRPr lang="en-US" sz="2200" dirty="0"/>
          </a:p>
        </p:txBody>
      </p:sp>
      <p:sp>
        <p:nvSpPr>
          <p:cNvPr id="12" name="Shape 9"/>
          <p:cNvSpPr/>
          <p:nvPr/>
        </p:nvSpPr>
        <p:spPr>
          <a:xfrm>
            <a:off x="6537960" y="3410712"/>
            <a:ext cx="2148840" cy="694944"/>
          </a:xfrm>
          <a:prstGeom prst="roundRect">
            <a:avLst>
              <a:gd name="adj" fmla="val 10526"/>
            </a:avLst>
          </a:prstGeom>
          <a:solidFill>
            <a:srgbClr val="F2F5F9"/>
          </a:solidFill>
          <a:ln/>
        </p:spPr>
      </p:sp>
      <p:sp>
        <p:nvSpPr>
          <p:cNvPr id="13" name="Text 10"/>
          <p:cNvSpPr txBox="1"/>
          <p:nvPr/>
        </p:nvSpPr>
        <p:spPr>
          <a:xfrm>
            <a:off x="6647688" y="3429000"/>
            <a:ext cx="1965960" cy="658368"/>
          </a:xfrm>
          <a:prstGeom prst="rect">
            <a:avLst/>
          </a:prstGeom>
          <a:noFill/>
          <a:ln/>
        </p:spPr>
        <p:txBody>
          <a:bodyPr wrap="square" lIns="0" tIns="0" rIns="0" bIns="0" rtlCol="0" anchor="ctr"/>
          <a:lstStyle/>
          <a:p>
            <a:pPr marL="0" indent="0">
              <a:buNone/>
            </a:pPr>
            <a:r>
              <a:rPr lang="en-US" sz="2200" b="1" dirty="0">
                <a:solidFill>
                  <a:srgbClr val="14213D"/>
                </a:solidFill>
                <a:latin typeface="Cambria" pitchFamily="34" charset="0"/>
                <a:ea typeface="Cambria" pitchFamily="34" charset="-122"/>
                <a:cs typeface="Cambria" pitchFamily="34" charset="-120"/>
              </a:rPr>
              <a:t>10.00×</a:t>
            </a:r>
            <a:endParaRPr lang="en-US" sz="2200" dirty="0"/>
          </a:p>
          <a:p>
            <a:pPr marL="0" indent="0">
              <a:buNone/>
            </a:pPr>
            <a:r>
              <a:rPr lang="en-US" sz="1050" dirty="0">
                <a:solidFill>
                  <a:srgbClr val="5B6779"/>
                </a:solidFill>
                <a:latin typeface="Calibri" pitchFamily="34" charset="0"/>
                <a:ea typeface="Calibri" pitchFamily="34" charset="-122"/>
                <a:cs typeface="Calibri" pitchFamily="34" charset="-120"/>
              </a:rPr>
              <a:t>p90 / p10 ratio</a:t>
            </a:r>
            <a:endParaRPr lang="en-US" sz="2200" dirty="0"/>
          </a:p>
        </p:txBody>
      </p:sp>
      <p:sp>
        <p:nvSpPr>
          <p:cNvPr id="14" name="Text 11"/>
          <p:cNvSpPr txBox="1"/>
          <p:nvPr/>
        </p:nvSpPr>
        <p:spPr>
          <a:xfrm>
            <a:off x="457200" y="4224528"/>
            <a:ext cx="8229600" cy="457200"/>
          </a:xfrm>
          <a:prstGeom prst="rect">
            <a:avLst/>
          </a:prstGeom>
          <a:noFill/>
          <a:ln/>
        </p:spPr>
        <p:txBody>
          <a:bodyPr wrap="square" lIns="0" tIns="0" rIns="0" bIns="0" rtlCol="0" anchor="ctr"/>
          <a:lstStyle/>
          <a:p>
            <a:pPr marL="0" indent="0">
              <a:buNone/>
            </a:pPr>
            <a:r>
              <a:rPr lang="en-US" sz="1400" dirty="0">
                <a:solidFill>
                  <a:srgbClr val="14213D"/>
                </a:solidFill>
                <a:latin typeface="Calibri" pitchFamily="34" charset="0"/>
                <a:ea typeface="Calibri" pitchFamily="34" charset="-122"/>
                <a:cs typeface="Calibri" pitchFamily="34" charset="-120"/>
              </a:rPr>
              <a:t>Spending is right-skewed. Families report round amounts, so the weighted and unweighted medians coincide.</a:t>
            </a:r>
            <a:endParaRPr lang="en-US" sz="1400" dirty="0"/>
          </a:p>
        </p:txBody>
      </p:sp>
      <p:pic>
        <p:nvPicPr>
          <p:cNvPr id="16" name="Graphic 15">
            <a:extLst>
              <a:ext uri="{FF2B5EF4-FFF2-40B4-BE49-F238E27FC236}">
                <a16:creationId xmlns:a16="http://schemas.microsoft.com/office/drawing/2014/main" id="{90532D11-6601-4F68-86FA-D11C6A9D1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0351" y="1143696"/>
            <a:ext cx="5715465" cy="26236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5486400" cy="274320"/>
          </a:xfrm>
          <a:prstGeom prst="rect">
            <a:avLst/>
          </a:prstGeom>
          <a:noFill/>
          <a:ln/>
        </p:spPr>
        <p:txBody>
          <a:bodyPr wrap="square" lIns="0" tIns="0" rIns="0" bIns="0" rtlCol="0" anchor="ctr"/>
          <a:lstStyle/>
          <a:p>
            <a:pPr marL="0" indent="0">
              <a:buNone/>
            </a:pPr>
            <a:r>
              <a:rPr lang="en-US" sz="1300" b="1" kern="0" spc="300" dirty="0">
                <a:solidFill>
                  <a:srgbClr val="F2A93B"/>
                </a:solidFill>
                <a:latin typeface="Calibri" pitchFamily="34" charset="0"/>
                <a:ea typeface="Calibri" pitchFamily="34" charset="-122"/>
                <a:cs typeface="Calibri" pitchFamily="34" charset="-120"/>
              </a:rPr>
              <a:t>MOST IMPORTANT FINDING</a:t>
            </a:r>
            <a:endParaRPr lang="en-US" sz="1300" dirty="0"/>
          </a:p>
        </p:txBody>
      </p:sp>
      <p:sp>
        <p:nvSpPr>
          <p:cNvPr id="3" name="Title"/>
          <p:cNvSpPr txBox="1"/>
          <p:nvPr/>
        </p:nvSpPr>
        <p:spPr>
          <a:xfrm>
            <a:off x="457200" y="685800"/>
            <a:ext cx="8229600" cy="91440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Among 55-59 year-olds, 2.9% of women can read vs 43.0% of men</a:t>
            </a:r>
            <a:endParaRPr lang="en-US" sz="2800" dirty="0"/>
          </a:p>
        </p:txBody>
      </p:sp>
      <p:sp>
        <p:nvSpPr>
          <p:cNvPr id="4" name="Shape 2"/>
          <p:cNvSpPr/>
          <p:nvPr/>
        </p:nvSpPr>
        <p:spPr>
          <a:xfrm>
            <a:off x="457200" y="1783080"/>
            <a:ext cx="4754880" cy="2743200"/>
          </a:xfrm>
          <a:prstGeom prst="roundRect">
            <a:avLst>
              <a:gd name="adj" fmla="val 3333"/>
            </a:avLst>
          </a:prstGeom>
          <a:solidFill>
            <a:srgbClr val="22345A"/>
          </a:solidFill>
          <a:ln/>
          <a:effectLst>
            <a:outerShdw blurRad="101600" dist="25400" dir="5400000" algn="bl" rotWithShape="0">
              <a:srgbClr val="000000">
                <a:alpha val="15000"/>
              </a:srgbClr>
            </a:outerShdw>
          </a:effectLst>
        </p:spPr>
      </p:sp>
      <p:graphicFrame>
        <p:nvGraphicFramePr>
          <p:cNvPr id="5" name="Chart 0"/>
          <p:cNvGraphicFramePr/>
          <p:nvPr/>
        </p:nvGraphicFramePr>
        <p:xfrm>
          <a:off x="548640" y="1828800"/>
          <a:ext cx="457200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440680" y="1783080"/>
            <a:ext cx="3246120" cy="850392"/>
          </a:xfrm>
          <a:prstGeom prst="roundRect">
            <a:avLst>
              <a:gd name="adj" fmla="val 8602"/>
            </a:avLst>
          </a:prstGeom>
          <a:solidFill>
            <a:srgbClr val="22345A"/>
          </a:solidFill>
          <a:ln/>
        </p:spPr>
      </p:sp>
      <p:sp>
        <p:nvSpPr>
          <p:cNvPr id="7" name="Text 4"/>
          <p:cNvSpPr txBox="1"/>
          <p:nvPr/>
        </p:nvSpPr>
        <p:spPr>
          <a:xfrm>
            <a:off x="5577840" y="1801368"/>
            <a:ext cx="3017520" cy="813816"/>
          </a:xfrm>
          <a:prstGeom prst="rect">
            <a:avLst/>
          </a:prstGeom>
          <a:noFill/>
          <a:ln/>
        </p:spPr>
        <p:txBody>
          <a:bodyPr wrap="square" lIns="0" tIns="0" rIns="0" bIns="0" rtlCol="0" anchor="ctr"/>
          <a:lstStyle/>
          <a:p>
            <a:pPr marL="0" indent="0">
              <a:buNone/>
            </a:pPr>
            <a:r>
              <a:rPr lang="en-US" sz="2000" b="1" dirty="0">
                <a:solidFill>
                  <a:srgbClr val="F2A93B"/>
                </a:solidFill>
                <a:latin typeface="Cambria" pitchFamily="34" charset="0"/>
                <a:ea typeface="Cambria" pitchFamily="34" charset="-122"/>
                <a:cs typeface="Cambria" pitchFamily="34" charset="-120"/>
              </a:rPr>
              <a:t>46.6 points</a:t>
            </a:r>
            <a:endParaRPr lang="en-US" sz="2000" dirty="0"/>
          </a:p>
          <a:p>
            <a:pPr marL="0" indent="0">
              <a:buNone/>
            </a:pPr>
            <a:r>
              <a:rPr lang="en-US" sz="1200" dirty="0">
                <a:solidFill>
                  <a:srgbClr val="E4EAF5"/>
                </a:solidFill>
                <a:latin typeface="Calibri" pitchFamily="34" charset="0"/>
                <a:ea typeface="Calibri" pitchFamily="34" charset="-122"/>
                <a:cs typeface="Calibri" pitchFamily="34" charset="-120"/>
              </a:rPr>
              <a:t>largest gap, at ages 45-49 (57.0% vs 10.5%)</a:t>
            </a:r>
            <a:endParaRPr lang="en-US" sz="2000" dirty="0"/>
          </a:p>
        </p:txBody>
      </p:sp>
      <p:sp>
        <p:nvSpPr>
          <p:cNvPr id="8" name="Shape 5"/>
          <p:cNvSpPr/>
          <p:nvPr/>
        </p:nvSpPr>
        <p:spPr>
          <a:xfrm>
            <a:off x="5440680" y="2724912"/>
            <a:ext cx="3246120" cy="850392"/>
          </a:xfrm>
          <a:prstGeom prst="roundRect">
            <a:avLst>
              <a:gd name="adj" fmla="val 8602"/>
            </a:avLst>
          </a:prstGeom>
          <a:solidFill>
            <a:srgbClr val="22345A"/>
          </a:solidFill>
          <a:ln/>
        </p:spPr>
      </p:sp>
      <p:sp>
        <p:nvSpPr>
          <p:cNvPr id="9" name="Text 6"/>
          <p:cNvSpPr txBox="1"/>
          <p:nvPr/>
        </p:nvSpPr>
        <p:spPr>
          <a:xfrm>
            <a:off x="5577840" y="2743200"/>
            <a:ext cx="3017520" cy="813816"/>
          </a:xfrm>
          <a:prstGeom prst="rect">
            <a:avLst/>
          </a:prstGeom>
          <a:noFill/>
          <a:ln/>
        </p:spPr>
        <p:txBody>
          <a:bodyPr wrap="square" lIns="0" tIns="0" rIns="0" bIns="0" rtlCol="0" anchor="ctr"/>
          <a:lstStyle/>
          <a:p>
            <a:pPr marL="0" indent="0">
              <a:buNone/>
            </a:pPr>
            <a:r>
              <a:rPr lang="en-US" sz="2000" b="1" dirty="0">
                <a:solidFill>
                  <a:srgbClr val="F2A93B"/>
                </a:solidFill>
                <a:latin typeface="Cambria" pitchFamily="34" charset="0"/>
                <a:ea typeface="Cambria" pitchFamily="34" charset="-122"/>
                <a:cs typeface="Cambria" pitchFamily="34" charset="-120"/>
              </a:rPr>
              <a:t>52.6% vs 85.1%</a:t>
            </a:r>
            <a:endParaRPr lang="en-US" sz="2000" dirty="0"/>
          </a:p>
          <a:p>
            <a:pPr marL="0" indent="0">
              <a:buNone/>
            </a:pPr>
            <a:r>
              <a:rPr lang="en-US" sz="1200" dirty="0">
                <a:solidFill>
                  <a:srgbClr val="E4EAF5"/>
                </a:solidFill>
                <a:latin typeface="Calibri" pitchFamily="34" charset="0"/>
                <a:ea typeface="Calibri" pitchFamily="34" charset="-122"/>
                <a:cs typeface="Calibri" pitchFamily="34" charset="-120"/>
              </a:rPr>
              <a:t>women vs men aged 15-19: narrowing, not closed</a:t>
            </a:r>
            <a:endParaRPr lang="en-US" sz="2000" dirty="0"/>
          </a:p>
        </p:txBody>
      </p:sp>
      <p:sp>
        <p:nvSpPr>
          <p:cNvPr id="10" name="Shape 7"/>
          <p:cNvSpPr/>
          <p:nvPr/>
        </p:nvSpPr>
        <p:spPr>
          <a:xfrm>
            <a:off x="5440680" y="3666744"/>
            <a:ext cx="3246120" cy="850392"/>
          </a:xfrm>
          <a:prstGeom prst="roundRect">
            <a:avLst>
              <a:gd name="adj" fmla="val 8602"/>
            </a:avLst>
          </a:prstGeom>
          <a:solidFill>
            <a:srgbClr val="22345A"/>
          </a:solidFill>
          <a:ln/>
        </p:spPr>
      </p:sp>
      <p:sp>
        <p:nvSpPr>
          <p:cNvPr id="11" name="Text 8"/>
          <p:cNvSpPr txBox="1"/>
          <p:nvPr/>
        </p:nvSpPr>
        <p:spPr>
          <a:xfrm>
            <a:off x="5577840" y="3685032"/>
            <a:ext cx="3017520" cy="813816"/>
          </a:xfrm>
          <a:prstGeom prst="rect">
            <a:avLst/>
          </a:prstGeom>
          <a:noFill/>
          <a:ln/>
        </p:spPr>
        <p:txBody>
          <a:bodyPr wrap="square" lIns="0" tIns="0" rIns="0" bIns="0" rtlCol="0" anchor="ctr"/>
          <a:lstStyle/>
          <a:p>
            <a:pPr marL="0" indent="0">
              <a:buNone/>
            </a:pPr>
            <a:r>
              <a:rPr lang="en-US" sz="2000" b="1" dirty="0">
                <a:solidFill>
                  <a:srgbClr val="F2A93B"/>
                </a:solidFill>
                <a:latin typeface="Cambria" pitchFamily="34" charset="0"/>
                <a:ea typeface="Cambria" pitchFamily="34" charset="-122"/>
                <a:cs typeface="Cambria" pitchFamily="34" charset="-120"/>
              </a:rPr>
              <a:t>One cross-section</a:t>
            </a:r>
            <a:endParaRPr lang="en-US" sz="2000" dirty="0"/>
          </a:p>
          <a:p>
            <a:pPr marL="0" indent="0">
              <a:buNone/>
            </a:pPr>
            <a:r>
              <a:rPr lang="en-US" sz="1200" dirty="0">
                <a:solidFill>
                  <a:srgbClr val="E4EAF5"/>
                </a:solidFill>
                <a:latin typeface="Calibri" pitchFamily="34" charset="0"/>
                <a:ea typeface="Calibri" pitchFamily="34" charset="-122"/>
                <a:cs typeface="Calibri" pitchFamily="34" charset="-120"/>
              </a:rPr>
              <a:t>mixes age and cohort effects</a:t>
            </a:r>
            <a:endParaRPr lang="en-US" sz="2000" dirty="0"/>
          </a:p>
        </p:txBody>
      </p:sp>
    </p:spTree>
  </p:cSld>
  <p:clrMapOvr>
    <a:masterClrMapping/>
  </p:clrMapOvr>
</p:sld>
</file>

<file path=ppt/theme/theme1.xml><?xml version="1.0" encoding="utf-8"?>
<a:theme xmlns:a="http://schemas.openxmlformats.org/drawingml/2006/main" name="KP Literacy">
  <a:themeElements>
    <a:clrScheme name="KP Literacy">
      <a:dk1>
        <a:srgbClr val="14213D"/>
      </a:dk1>
      <a:lt1>
        <a:srgbClr val="FFFFFF"/>
      </a:lt1>
      <a:dk2>
        <a:srgbClr val="22345A"/>
      </a:dk2>
      <a:lt2>
        <a:srgbClr val="F2F5F9"/>
      </a:lt2>
      <a:accent1>
        <a:srgbClr val="1B6CA8"/>
      </a:accent1>
      <a:accent2>
        <a:srgbClr val="C0392B"/>
      </a:accent2>
      <a:accent3>
        <a:srgbClr val="F2A93B"/>
      </a:accent3>
      <a:accent4>
        <a:srgbClr val="5AA9E6"/>
      </a:accent4>
      <a:accent5>
        <a:srgbClr val="FF8A7A"/>
      </a:accent5>
      <a:accent6>
        <a:srgbClr val="9AA5B1"/>
      </a:accent6>
      <a:hlink>
        <a:srgbClr val="1B6CA8"/>
      </a:hlink>
      <a:folHlink>
        <a:srgbClr val="5AA9E6"/>
      </a:folHlink>
    </a:clrScheme>
    <a:fontScheme name="KP Literac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678</Words>
  <Application>Microsoft Office PowerPoint</Application>
  <PresentationFormat>On-screen Show (16:9)</PresentationFormat>
  <Paragraphs>49</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KP Literacy</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FA24-BEDS-004</dc:title>
  <dc:subject>PptxGenJS Presentation</dc:subject>
  <dc:creator>Abdul Muqeet</dc:creator>
  <cp:lastModifiedBy>Abdul Muqeet</cp:lastModifiedBy>
  <cp:revision>5</cp:revision>
  <dcterms:created xsi:type="dcterms:W3CDTF">2026-10-24T08:23:51Z</dcterms:created>
  <dcterms:modified xsi:type="dcterms:W3CDTF">2026-10-24T09:44:51Z</dcterms:modified>
</cp:coreProperties>
</file>